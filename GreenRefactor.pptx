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1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3291840"/>
            <a:ext cx="4023360" cy="402336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6012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icons/leaf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839" y="1134999"/>
            <a:ext cx="427482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GREENREFACTOR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Pipeline for Measuring the Energy Impact of Code Refactoring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4160520"/>
            <a:ext cx="2743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480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languages</a:t>
            </a:r>
            <a:pPr indent="0" marL="0">
              <a:buNone/>
            </a:pPr>
            <a:r>
              <a:rPr lang="en-US" sz="14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refactoring patterns</a:t>
            </a:r>
            <a:pPr indent="0" marL="0">
              <a:buNone/>
            </a:pPr>
            <a:r>
              <a:rPr lang="en-US" sz="14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energy measurements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GreenRefactor Does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18872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GreenRefactor is an automated research pipeline that asks a simple question with a rigorous answer: do “green” code refactors actually reduce energy consumption? For each repository, it measures a baseline, applies a targeted refactor, verifies correctness, re-measures, and runs paired statistics — the same six-step process repeated consistently across eight programming languages.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3F8F7"/>
          </a:solidFill>
          <a:ln/>
        </p:spPr>
      </p:sp>
      <p:sp>
        <p:nvSpPr>
          <p:cNvPr id="6" name="Shape 4"/>
          <p:cNvSpPr/>
          <p:nvPr/>
        </p:nvSpPr>
        <p:spPr>
          <a:xfrm>
            <a:off x="1522476" y="3172968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icons/glob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7317" y="3317809"/>
            <a:ext cx="368686" cy="3686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977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Languages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4361688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JS, Java, C#, C++, C, Go, Rust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0712" y="28803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3F8F7"/>
          </a:solidFill>
          <a:ln/>
        </p:spPr>
      </p:sp>
      <p:sp>
        <p:nvSpPr>
          <p:cNvPr id="11" name="Shape 8"/>
          <p:cNvSpPr/>
          <p:nvPr/>
        </p:nvSpPr>
        <p:spPr>
          <a:xfrm>
            <a:off x="4384548" y="3172968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icons/lay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389" y="3317809"/>
            <a:ext cx="368686" cy="3686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3977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Patterns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93592" y="4361688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mechanical + 4 semantic refactors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72784" y="28803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3F8F7"/>
          </a:solidFill>
          <a:ln/>
        </p:spPr>
      </p:sp>
      <p:sp>
        <p:nvSpPr>
          <p:cNvPr id="16" name="Shape 12"/>
          <p:cNvSpPr/>
          <p:nvPr/>
        </p:nvSpPr>
        <p:spPr>
          <a:xfrm>
            <a:off x="7246620" y="3172968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icons/cog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61" y="3317809"/>
            <a:ext cx="368686" cy="3686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9944" y="3977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Agents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55664" y="4361688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owns one stage of the pipeline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134856" y="28803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3F8F7"/>
          </a:solidFill>
          <a:ln/>
        </p:spPr>
      </p:sp>
      <p:sp>
        <p:nvSpPr>
          <p:cNvPr id="21" name="Shape 16"/>
          <p:cNvSpPr/>
          <p:nvPr/>
        </p:nvSpPr>
        <p:spPr>
          <a:xfrm>
            <a:off x="10108692" y="3172968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icons/cha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3533" y="3317809"/>
            <a:ext cx="368686" cy="36868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2016" y="3977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Stats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317736" y="4361688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is statistically validated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GreenRefactor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Overview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Pipeline: One Repo, Six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18872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end-to-end by orchestrator.py for every (language, repo) pair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691640" cy="2286000"/>
          </a:xfrm>
          <a:prstGeom prst="roundRect">
            <a:avLst>
              <a:gd name="adj" fmla="val 4324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10996" y="253288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icons/bolt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720" y="2657612"/>
            <a:ext cx="317480" cy="317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2461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" y="3593592"/>
            <a:ext cx="1472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energy,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runs, unmodified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258568" y="3337560"/>
            <a:ext cx="15179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2" name="Shape 9"/>
          <p:cNvSpPr/>
          <p:nvPr/>
        </p:nvSpPr>
        <p:spPr>
          <a:xfrm>
            <a:off x="2428646" y="2240280"/>
            <a:ext cx="1691640" cy="2286000"/>
          </a:xfrm>
          <a:prstGeom prst="roundRect">
            <a:avLst>
              <a:gd name="adj" fmla="val 4324"/>
            </a:avLst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2538374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991002" y="253288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icons/search_00A89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727" y="2657612"/>
            <a:ext cx="317480" cy="317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20086" y="32461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2538374" y="3593592"/>
            <a:ext cx="1472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pattern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in the file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138574" y="3337560"/>
            <a:ext cx="15179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9" name="Shape 15"/>
          <p:cNvSpPr/>
          <p:nvPr/>
        </p:nvSpPr>
        <p:spPr>
          <a:xfrm>
            <a:off x="4308653" y="2240280"/>
            <a:ext cx="1691640" cy="2286000"/>
          </a:xfrm>
          <a:prstGeom prst="roundRect">
            <a:avLst>
              <a:gd name="adj" fmla="val 4324"/>
            </a:avLst>
          </a:prstGeom>
          <a:solidFill>
            <a:srgbClr val="028090"/>
          </a:solidFill>
          <a:ln/>
        </p:spPr>
      </p:sp>
      <p:sp>
        <p:nvSpPr>
          <p:cNvPr id="20" name="Text 16"/>
          <p:cNvSpPr/>
          <p:nvPr/>
        </p:nvSpPr>
        <p:spPr>
          <a:xfrm>
            <a:off x="4418381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871009" y="253288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icons/wrench_02809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733" y="2657612"/>
            <a:ext cx="317480" cy="317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400093" y="32461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418381" y="3593592"/>
            <a:ext cx="1472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Auto-apply template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flag for review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018581" y="3337560"/>
            <a:ext cx="15179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6" name="Shape 21"/>
          <p:cNvSpPr/>
          <p:nvPr/>
        </p:nvSpPr>
        <p:spPr>
          <a:xfrm>
            <a:off x="6188659" y="2240280"/>
            <a:ext cx="1691640" cy="2286000"/>
          </a:xfrm>
          <a:prstGeom prst="roundRect">
            <a:avLst>
              <a:gd name="adj" fmla="val 4324"/>
            </a:avLst>
          </a:prstGeom>
          <a:solidFill>
            <a:srgbClr val="00A896"/>
          </a:solidFill>
          <a:ln/>
        </p:spPr>
      </p:sp>
      <p:sp>
        <p:nvSpPr>
          <p:cNvPr id="27" name="Text 22"/>
          <p:cNvSpPr/>
          <p:nvPr/>
        </p:nvSpPr>
        <p:spPr>
          <a:xfrm>
            <a:off x="6298387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6751015" y="253288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3" descr="icons/shield_00A89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5739" y="2657612"/>
            <a:ext cx="317480" cy="3174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280099" y="32461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6298387" y="3593592"/>
            <a:ext cx="1472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tests; restore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reject if broken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7898587" y="3337560"/>
            <a:ext cx="15179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33" name="Shape 27"/>
          <p:cNvSpPr/>
          <p:nvPr/>
        </p:nvSpPr>
        <p:spPr>
          <a:xfrm>
            <a:off x="8068666" y="2240280"/>
            <a:ext cx="1691640" cy="2286000"/>
          </a:xfrm>
          <a:prstGeom prst="roundRect">
            <a:avLst>
              <a:gd name="adj" fmla="val 4324"/>
            </a:avLst>
          </a:prstGeom>
          <a:solidFill>
            <a:srgbClr val="028090"/>
          </a:solidFill>
          <a:ln/>
        </p:spPr>
      </p:sp>
      <p:sp>
        <p:nvSpPr>
          <p:cNvPr id="34" name="Text 28"/>
          <p:cNvSpPr/>
          <p:nvPr/>
        </p:nvSpPr>
        <p:spPr>
          <a:xfrm>
            <a:off x="8178394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Shape 29"/>
          <p:cNvSpPr/>
          <p:nvPr/>
        </p:nvSpPr>
        <p:spPr>
          <a:xfrm>
            <a:off x="8631022" y="253288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4" descr="icons/bolt_02809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5746" y="2657612"/>
            <a:ext cx="317480" cy="31748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8160106" y="32461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Re-measure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8178394" y="3593592"/>
            <a:ext cx="1472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again,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cases only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9778594" y="3337560"/>
            <a:ext cx="15179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40" name="Shape 33"/>
          <p:cNvSpPr/>
          <p:nvPr/>
        </p:nvSpPr>
        <p:spPr>
          <a:xfrm>
            <a:off x="9948672" y="2240280"/>
            <a:ext cx="1691640" cy="2286000"/>
          </a:xfrm>
          <a:prstGeom prst="roundRect">
            <a:avLst>
              <a:gd name="adj" fmla="val 4324"/>
            </a:avLst>
          </a:prstGeom>
          <a:solidFill>
            <a:srgbClr val="00A896"/>
          </a:solidFill>
          <a:ln/>
        </p:spPr>
      </p:sp>
      <p:sp>
        <p:nvSpPr>
          <p:cNvPr id="41" name="Text 34"/>
          <p:cNvSpPr/>
          <p:nvPr/>
        </p:nvSpPr>
        <p:spPr>
          <a:xfrm>
            <a:off x="10058400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Shape 35"/>
          <p:cNvSpPr/>
          <p:nvPr/>
        </p:nvSpPr>
        <p:spPr>
          <a:xfrm>
            <a:off x="10511028" y="253288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3" name="Image 5" descr="icons/chart_00A89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5752" y="2657612"/>
            <a:ext cx="317480" cy="31748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10040112" y="32461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45" name="Text 37"/>
          <p:cNvSpPr/>
          <p:nvPr/>
        </p:nvSpPr>
        <p:spPr>
          <a:xfrm>
            <a:off x="10058400" y="3593592"/>
            <a:ext cx="1472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statistics,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results JSON</a:t>
            </a:r>
            <a:endParaRPr lang="en-US" sz="1050" dirty="0"/>
          </a:p>
        </p:txBody>
      </p:sp>
      <p:sp>
        <p:nvSpPr>
          <p:cNvPr id="46" name="Text 38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broken refactor never reaches the measurement stage — verification restores the original file and rejects the case first.</a:t>
            </a:r>
            <a:endParaRPr lang="en-US" sz="1250" dirty="0"/>
          </a:p>
        </p:txBody>
      </p:sp>
      <p:sp>
        <p:nvSpPr>
          <p:cNvPr id="47" name="Text 3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GreenRefactor</a:t>
            </a:r>
            <a:endParaRPr lang="en-US" sz="1000" dirty="0"/>
          </a:p>
        </p:txBody>
      </p:sp>
      <p:sp>
        <p:nvSpPr>
          <p:cNvPr id="48" name="Text 40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Pipeline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Agents, One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33272"/>
            <a:ext cx="118872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2606040" cy="2084832"/>
          </a:xfrm>
          <a:prstGeom prst="roundRect">
            <a:avLst>
              <a:gd name="adj" fmla="val 3070"/>
            </a:avLst>
          </a:prstGeom>
          <a:solidFill>
            <a:srgbClr val="F3F8F7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1848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cpu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22" y="173370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286000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Detection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3232" y="2788920"/>
            <a:ext cx="22768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RAPL or TDP-estimate energy mode once per batch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92424" y="1417320"/>
            <a:ext cx="2606040" cy="2084832"/>
          </a:xfrm>
          <a:prstGeom prst="roundRect">
            <a:avLst>
              <a:gd name="adj" fmla="val 3070"/>
            </a:avLst>
          </a:prstGeom>
          <a:solidFill>
            <a:srgbClr val="F3F8F7"/>
          </a:solidFill>
          <a:ln/>
        </p:spPr>
      </p:sp>
      <p:sp>
        <p:nvSpPr>
          <p:cNvPr id="10" name="Shape 7"/>
          <p:cNvSpPr/>
          <p:nvPr/>
        </p:nvSpPr>
        <p:spPr>
          <a:xfrm>
            <a:off x="3593592" y="161848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icons/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806" y="173370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57016" y="2286000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57016" y="2788920"/>
            <a:ext cx="22768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Regex/heuristic scan for the 4 mechanical patterns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36208" y="1417320"/>
            <a:ext cx="2606040" cy="2084832"/>
          </a:xfrm>
          <a:prstGeom prst="roundRect">
            <a:avLst>
              <a:gd name="adj" fmla="val 3070"/>
            </a:avLst>
          </a:prstGeom>
          <a:solidFill>
            <a:srgbClr val="F3F8F7"/>
          </a:solidFill>
          <a:ln/>
        </p:spPr>
      </p:sp>
      <p:sp>
        <p:nvSpPr>
          <p:cNvPr id="15" name="Shape 11"/>
          <p:cNvSpPr/>
          <p:nvPr/>
        </p:nvSpPr>
        <p:spPr>
          <a:xfrm>
            <a:off x="6437376" y="161848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icons/wrench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590" y="173370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286000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0" y="2788920"/>
            <a:ext cx="22768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Auto-applies templates or inserts a flagged comment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079992" y="1417320"/>
            <a:ext cx="2606040" cy="2084832"/>
          </a:xfrm>
          <a:prstGeom prst="roundRect">
            <a:avLst>
              <a:gd name="adj" fmla="val 3070"/>
            </a:avLst>
          </a:prstGeom>
          <a:solidFill>
            <a:srgbClr val="F3F8F7"/>
          </a:solidFill>
          <a:ln/>
        </p:spPr>
      </p:sp>
      <p:sp>
        <p:nvSpPr>
          <p:cNvPr id="20" name="Shape 15"/>
          <p:cNvSpPr/>
          <p:nvPr/>
        </p:nvSpPr>
        <p:spPr>
          <a:xfrm>
            <a:off x="9281160" y="161848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icons/shiel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6374" y="1733702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44584" y="2286000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244584" y="2788920"/>
            <a:ext cx="22768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tests before/after; auto-restores on failure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3758184"/>
            <a:ext cx="2606040" cy="2084832"/>
          </a:xfrm>
          <a:prstGeom prst="roundRect">
            <a:avLst>
              <a:gd name="adj" fmla="val 3070"/>
            </a:avLst>
          </a:prstGeom>
          <a:solidFill>
            <a:srgbClr val="F3F8F7"/>
          </a:solidFill>
          <a:ln/>
        </p:spPr>
      </p:sp>
      <p:sp>
        <p:nvSpPr>
          <p:cNvPr id="25" name="Shape 19"/>
          <p:cNvSpPr/>
          <p:nvPr/>
        </p:nvSpPr>
        <p:spPr>
          <a:xfrm>
            <a:off x="749808" y="395935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icons/play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22" y="4074566"/>
            <a:ext cx="281635" cy="28163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3232" y="4626864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Run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13232" y="5129784"/>
            <a:ext cx="22768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adapter per language to compile and execute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392424" y="3758184"/>
            <a:ext cx="2606040" cy="2084832"/>
          </a:xfrm>
          <a:prstGeom prst="roundRect">
            <a:avLst>
              <a:gd name="adj" fmla="val 3070"/>
            </a:avLst>
          </a:prstGeom>
          <a:solidFill>
            <a:srgbClr val="F3F8F7"/>
          </a:solidFill>
          <a:ln/>
        </p:spPr>
      </p:sp>
      <p:sp>
        <p:nvSpPr>
          <p:cNvPr id="30" name="Shape 23"/>
          <p:cNvSpPr/>
          <p:nvPr/>
        </p:nvSpPr>
        <p:spPr>
          <a:xfrm>
            <a:off x="3593592" y="395935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icons/bol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8806" y="4074566"/>
            <a:ext cx="281635" cy="28163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57016" y="4626864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557016" y="5129784"/>
            <a:ext cx="22768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energy per run in the batch's chosen mode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236208" y="3758184"/>
            <a:ext cx="2606040" cy="2084832"/>
          </a:xfrm>
          <a:prstGeom prst="roundRect">
            <a:avLst>
              <a:gd name="adj" fmla="val 3070"/>
            </a:avLst>
          </a:prstGeom>
          <a:solidFill>
            <a:srgbClr val="F3F8F7"/>
          </a:solidFill>
          <a:ln/>
        </p:spPr>
      </p:sp>
      <p:sp>
        <p:nvSpPr>
          <p:cNvPr id="35" name="Shape 27"/>
          <p:cNvSpPr/>
          <p:nvPr/>
        </p:nvSpPr>
        <p:spPr>
          <a:xfrm>
            <a:off x="6437376" y="395935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6" name="Image 6" descr="icons/chart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2590" y="4074566"/>
            <a:ext cx="281635" cy="28163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00800" y="4626864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400800" y="5129784"/>
            <a:ext cx="22768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significance test, effect size, confidence interval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9079992" y="3758184"/>
            <a:ext cx="2606040" cy="2084832"/>
          </a:xfrm>
          <a:prstGeom prst="roundRect">
            <a:avLst>
              <a:gd name="adj" fmla="val 3070"/>
            </a:avLst>
          </a:prstGeom>
          <a:solidFill>
            <a:srgbClr val="F3F8F7"/>
          </a:solidFill>
          <a:ln/>
        </p:spPr>
      </p:sp>
      <p:sp>
        <p:nvSpPr>
          <p:cNvPr id="40" name="Shape 31"/>
          <p:cNvSpPr/>
          <p:nvPr/>
        </p:nvSpPr>
        <p:spPr>
          <a:xfrm>
            <a:off x="9281160" y="395935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1" name="Image 7" descr="icons/robot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6374" y="4074566"/>
            <a:ext cx="281635" cy="28163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244584" y="4626864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Review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9244584" y="5129784"/>
            <a:ext cx="22768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the 4 semantic patterns via Groq; never auto-applies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GreenRefactor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Agents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&amp; Auto-Refactoring: Mechanical Patterns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18872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51206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 Agent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source files with a single heuristic rule-set, with language-specific syntax substituted in — the same rules run across all 8 languages.
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Agent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applies the fix: a real, tested code template where one exists, or a safe “REFACTOR-CANDIDATE” comment otherwise. Every file is backed up before it's touched, and can be restored instantly.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89320" y="1371600"/>
            <a:ext cx="5623560" cy="777240"/>
          </a:xfrm>
          <a:prstGeom prst="roundRect">
            <a:avLst>
              <a:gd name="adj" fmla="val 7059"/>
            </a:avLst>
          </a:prstGeom>
          <a:solidFill>
            <a:srgbClr val="F3F8F7"/>
          </a:solidFill>
          <a:ln/>
        </p:spPr>
      </p:sp>
      <p:sp>
        <p:nvSpPr>
          <p:cNvPr id="6" name="Shape 4"/>
          <p:cNvSpPr/>
          <p:nvPr/>
        </p:nvSpPr>
        <p:spPr>
          <a:xfrm>
            <a:off x="6135624" y="15316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0" descr="icons/bol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8494" y="163449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0" y="1444752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Reuse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766560" y="17373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Memoize pure functions called repeatedly with the same arguments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989320" y="2313432"/>
            <a:ext cx="5623560" cy="777240"/>
          </a:xfrm>
          <a:prstGeom prst="roundRect">
            <a:avLst>
              <a:gd name="adj" fmla="val 7059"/>
            </a:avLst>
          </a:prstGeom>
          <a:solidFill>
            <a:srgbClr val="F3F8F7"/>
          </a:solidFill>
          <a:ln/>
        </p:spPr>
      </p:sp>
      <p:sp>
        <p:nvSpPr>
          <p:cNvPr id="11" name="Shape 8"/>
          <p:cNvSpPr/>
          <p:nvPr/>
        </p:nvSpPr>
        <p:spPr>
          <a:xfrm>
            <a:off x="6135624" y="247345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icons/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494" y="2576322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66560" y="2386584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Termination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766560" y="267919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a loop as soon as a match is found instead of scanning to the end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89320" y="3255264"/>
            <a:ext cx="5623560" cy="777240"/>
          </a:xfrm>
          <a:prstGeom prst="roundRect">
            <a:avLst>
              <a:gd name="adj" fmla="val 7059"/>
            </a:avLst>
          </a:prstGeom>
          <a:solidFill>
            <a:srgbClr val="F3F8F7"/>
          </a:solidFill>
          <a:ln/>
        </p:spPr>
      </p:sp>
      <p:sp>
        <p:nvSpPr>
          <p:cNvPr id="16" name="Shape 12"/>
          <p:cNvSpPr/>
          <p:nvPr/>
        </p:nvSpPr>
        <p:spPr>
          <a:xfrm>
            <a:off x="6135624" y="341528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2" descr="icons/lay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494" y="3518154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66560" y="3328416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Operations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766560" y="3621024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per-item I/O calls inside a loop as batching candidates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989320" y="4197096"/>
            <a:ext cx="5623560" cy="777240"/>
          </a:xfrm>
          <a:prstGeom prst="roundRect">
            <a:avLst>
              <a:gd name="adj" fmla="val 7059"/>
            </a:avLst>
          </a:prstGeom>
          <a:solidFill>
            <a:srgbClr val="F3F8F7"/>
          </a:solidFill>
          <a:ln/>
        </p:spPr>
      </p:sp>
      <p:sp>
        <p:nvSpPr>
          <p:cNvPr id="21" name="Shape 16"/>
          <p:cNvSpPr/>
          <p:nvPr/>
        </p:nvSpPr>
        <p:spPr>
          <a:xfrm>
            <a:off x="6135624" y="435711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3" descr="icons/cod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494" y="4459986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66560" y="427024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Redundant Computation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766560" y="4562856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 an invariant expression out of a loop body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0B2E33"/>
          </a:solidFill>
          <a:ln/>
        </p:spPr>
      </p:sp>
      <p:sp>
        <p:nvSpPr>
          <p:cNvPr id="26" name="Text 20"/>
          <p:cNvSpPr/>
          <p:nvPr/>
        </p:nvSpPr>
        <p:spPr>
          <a:xfrm>
            <a:off x="777240" y="523036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language, every pattern.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6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Reuse and Avoid Redundant Computation get real auto-applied templates across most or all 8 languages; Batch Operations is intentionally always flagged for human judgment, since the right bulk API differs per library.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GreenRefactor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Mechanical Patterns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Judgment Calls: Semantic Patterns via LLM Review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18872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refactors need real domain judgment — not a regex rule. The LLM Review Agent sends the file to an LLM and asks it to consider only four well-defined patterns, reporting a finding only when confident. It is suggest-only: it never edits a file itself. A suggestion only becomes a change once accepted, and from there it flows through the exact same verify → measure → analyze path as every other pattern.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3F8F7"/>
          </a:solidFill>
          <a:ln/>
        </p:spPr>
      </p:sp>
      <p:sp>
        <p:nvSpPr>
          <p:cNvPr id="6" name="Shape 4"/>
          <p:cNvSpPr/>
          <p:nvPr/>
        </p:nvSpPr>
        <p:spPr>
          <a:xfrm>
            <a:off x="1540764" y="2862072"/>
            <a:ext cx="621792" cy="62179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0" descr="icons/cpu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558" y="2998866"/>
            <a:ext cx="348204" cy="3482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611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 to Native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13232" y="4050792"/>
            <a:ext cx="22768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hot pure-compute loop that could move into a compiled extension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10712" y="26060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3F8F7"/>
          </a:solidFill>
          <a:ln/>
        </p:spPr>
      </p:sp>
      <p:sp>
        <p:nvSpPr>
          <p:cNvPr id="11" name="Shape 8"/>
          <p:cNvSpPr/>
          <p:nvPr/>
        </p:nvSpPr>
        <p:spPr>
          <a:xfrm>
            <a:off x="4402836" y="2862072"/>
            <a:ext cx="621792" cy="62179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icons/lay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630" y="2998866"/>
            <a:ext cx="348204" cy="3482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3611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 Libraries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75304" y="4050792"/>
            <a:ext cx="22768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slow stdlib routine where a faster, well-known library exists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272784" y="26060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3F8F7"/>
          </a:solidFill>
          <a:ln/>
        </p:spPr>
      </p:sp>
      <p:sp>
        <p:nvSpPr>
          <p:cNvPr id="16" name="Shape 12"/>
          <p:cNvSpPr/>
          <p:nvPr/>
        </p:nvSpPr>
        <p:spPr>
          <a:xfrm>
            <a:off x="7264908" y="2862072"/>
            <a:ext cx="621792" cy="62179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2" descr="icons/cod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702" y="2998866"/>
            <a:ext cx="348204" cy="3482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9944" y="3611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 Data Structures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37376" y="4050792"/>
            <a:ext cx="22768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structure for the access pattern (e.g. list vs. set lookups)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9134856" y="26060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3F8F7"/>
          </a:solidFill>
          <a:ln/>
        </p:spPr>
      </p:sp>
      <p:sp>
        <p:nvSpPr>
          <p:cNvPr id="21" name="Shape 16"/>
          <p:cNvSpPr/>
          <p:nvPr/>
        </p:nvSpPr>
        <p:spPr>
          <a:xfrm>
            <a:off x="10126980" y="2862072"/>
            <a:ext cx="621792" cy="62179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3" descr="icons/wrench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3774" y="2998866"/>
            <a:ext cx="348204" cy="3482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2016" y="3611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Library Impl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299448" y="4050792"/>
            <a:ext cx="22768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heavier dependency used where a lighter one does the same job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Language-agnostic by design</a:t>
            </a:r>
            <a:pPr indent="0" marL="0">
              <a:buNone/>
            </a:pPr>
            <a:r>
              <a:rPr lang="en-US" sz="1200" i="1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because it's LLM-driven rather than per-language regex, this agent already covers all 8 languages with one code path.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GreenRefactor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Semantic Patterns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the Numbers Honest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18872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F3F8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373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shie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985" y="189166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1051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Agent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617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repo's real test suite before and after every refactor. </a:t>
            </a:r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test suite is discoverable, it falls back to a build-and-run check — does the workload still compile and exit cleanly.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refactor that breaks verification is 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restored and rejected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it ever reaches the measurement stage.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26480" y="141732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0B2E33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73736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icons/bolt_0B2E3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825" y="189166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81051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Agent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46520" y="2697480"/>
            <a:ext cx="4617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6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N repeated runs and attaches an energy value to each one, using whichever mode Environment Detection chose for this batch: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RAPL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6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real hardware power-counter readings, when available.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TDP-estimate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6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CPU-utilization × wattage fallback when hardware counters aren't accessible.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GreenRefactor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Verification &amp; Measurement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Measurements to Evidence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18872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Agent — per (language, repo, pattern) case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3F8F7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9476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947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9659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Normality check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 on paired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differences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178308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3F8F7"/>
          </a:solidFill>
          <a:ln/>
        </p:spPr>
      </p:sp>
      <p:sp>
        <p:nvSpPr>
          <p:cNvPr id="11" name="Shape 9"/>
          <p:cNvSpPr/>
          <p:nvPr/>
        </p:nvSpPr>
        <p:spPr>
          <a:xfrm>
            <a:off x="3547872" y="19476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1947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041648" y="19659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test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66160" y="2560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t-test if normal,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otherwise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78308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3F8F7"/>
          </a:solidFill>
          <a:ln/>
        </p:spPr>
      </p:sp>
      <p:sp>
        <p:nvSpPr>
          <p:cNvPr id="16" name="Shape 14"/>
          <p:cNvSpPr/>
          <p:nvPr/>
        </p:nvSpPr>
        <p:spPr>
          <a:xfrm>
            <a:off x="6382512" y="19476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382512" y="1947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76288" y="19659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0" y="2560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on the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differences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52560" y="178308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3F8F7"/>
          </a:solidFill>
          <a:ln/>
        </p:spPr>
      </p:sp>
      <p:sp>
        <p:nvSpPr>
          <p:cNvPr id="21" name="Shape 19"/>
          <p:cNvSpPr/>
          <p:nvPr/>
        </p:nvSpPr>
        <p:spPr>
          <a:xfrm>
            <a:off x="9217152" y="19476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9217152" y="1947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10928" y="19659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35440" y="2560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on the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difference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3520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compare_results.py — aggregating across everything that's been run so far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397764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028090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" y="4297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0" descr="icons/chart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4438498"/>
            <a:ext cx="358445" cy="358445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691640" y="427024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— Per Language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1691640" y="4709160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% energy change for each of the 8 languages individually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5352" y="397764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00A896"/>
          </a:solidFill>
          <a:ln/>
        </p:spPr>
      </p:sp>
      <p:sp>
        <p:nvSpPr>
          <p:cNvPr id="32" name="Shape 29"/>
          <p:cNvSpPr/>
          <p:nvPr/>
        </p:nvSpPr>
        <p:spPr>
          <a:xfrm>
            <a:off x="6519672" y="4297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1" descr="icons/layers_00A89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490" y="4438498"/>
            <a:ext cx="358445" cy="358445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7388352" y="427024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— Per Runtime Category</a:t>
            </a:r>
            <a:endParaRPr lang="en-US" sz="1450" dirty="0"/>
          </a:p>
        </p:txBody>
      </p:sp>
      <p:sp>
        <p:nvSpPr>
          <p:cNvPr id="35" name="Text 31"/>
          <p:cNvSpPr/>
          <p:nvPr/>
        </p:nvSpPr>
        <p:spPr>
          <a:xfrm>
            <a:off x="7388352" y="4709160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Compiled-native, managed-JIT, and interpreted-JIT grouped and compared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GreenRefactor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Statistics &amp; Results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Orchestration: Running It at Scale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18872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00200"/>
            <a:ext cx="11091672" cy="1417320"/>
          </a:xfrm>
          <a:prstGeom prst="roundRect">
            <a:avLst>
              <a:gd name="adj" fmla="val 4516"/>
            </a:avLst>
          </a:prstGeom>
          <a:solidFill>
            <a:srgbClr val="F3F8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cog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839" y="209511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7647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orchestrator.py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74520" y="2167128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one full case end-to-end for a single (language, repo, entrypoint) — the six-step pipeline in one function call.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11091672" cy="1417320"/>
          </a:xfrm>
          <a:prstGeom prst="roundRect">
            <a:avLst>
              <a:gd name="adj" fmla="val 4516"/>
            </a:avLst>
          </a:prstGeom>
          <a:solidFill>
            <a:srgbClr val="F3F8F7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35661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icons/lay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839" y="374103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341071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run_language_batch.py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874520" y="3813048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the orchestrator across every repo configured for one language, reading targets from config/repos.yaml.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4516"/>
            </a:avLst>
          </a:prstGeom>
          <a:solidFill>
            <a:srgbClr val="F3F8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52120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icons/cha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39" y="5386959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505663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compare_results.py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874520" y="5458968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every saved result once batches are done, and builds the cross-language RQ1 / RQ2 comparison tables.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5989320"/>
            <a:ext cx="11091672" cy="502920"/>
          </a:xfrm>
          <a:prstGeom prst="roundRect">
            <a:avLst>
              <a:gd name="adj" fmla="val 9091"/>
            </a:avLst>
          </a:prstGeom>
          <a:solidFill>
            <a:srgbClr val="0B2E33"/>
          </a:solidFill>
          <a:ln/>
        </p:spPr>
      </p:sp>
      <p:sp>
        <p:nvSpPr>
          <p:cNvPr id="20" name="Text 15"/>
          <p:cNvSpPr/>
          <p:nvPr/>
        </p:nvSpPr>
        <p:spPr>
          <a:xfrm>
            <a:off x="777240" y="59893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config/repos.yaml</a:t>
            </a:r>
            <a:pPr indent="0" marL="0">
              <a:buNone/>
            </a:pPr>
            <a:r>
              <a:rPr lang="en-US" sz="1200" dirty="0">
                <a:solidFill>
                  <a:srgbClr val="E6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defines every repo, language, and entrypoint the pipeline runs against.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GreenRefactor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Orchestration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icons/leaf_0B2E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98755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Detect. Refactor. Verify. Measure.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GreenRefactor turns “we think this refactor saves energy” into a measured, statistically validated answer — repeatable across 8 languages and 8 patterns, with a safety net at every step.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41148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822960" y="5029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0" y="41148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11" name="Text 8"/>
          <p:cNvSpPr/>
          <p:nvPr/>
        </p:nvSpPr>
        <p:spPr>
          <a:xfrm>
            <a:off x="4114800" y="5029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patterns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06640" y="41148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7406640" y="5029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cooperating agents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2026-07-31T05:06:37Z</dcterms:created>
  <dcterms:modified xsi:type="dcterms:W3CDTF">2026-07-31T05:06:37Z</dcterms:modified>
</cp:coreProperties>
</file>